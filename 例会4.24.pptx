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89" r:id="rId3"/>
    <p:sldId id="533" r:id="rId5"/>
    <p:sldId id="539" r:id="rId6"/>
    <p:sldId id="523" r:id="rId7"/>
    <p:sldId id="38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7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FFFFFF"/>
    <a:srgbClr val="293B13"/>
    <a:srgbClr val="F9680D"/>
    <a:srgbClr val="450C8D"/>
    <a:srgbClr val="840C18"/>
    <a:srgbClr val="1C283F"/>
    <a:srgbClr val="361A4B"/>
    <a:srgbClr val="795098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78" autoAdjust="0"/>
    <p:restoredTop sz="86679" autoAdjust="0"/>
  </p:normalViewPr>
  <p:slideViewPr>
    <p:cSldViewPr snapToGrid="0" showGuides="1">
      <p:cViewPr varScale="1">
        <p:scale>
          <a:sx n="86" d="100"/>
          <a:sy n="86" d="100"/>
        </p:scale>
        <p:origin x="456" y="30"/>
      </p:cViewPr>
      <p:guideLst>
        <p:guide orient="horz" pos="2132"/>
        <p:guide pos="387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 descr="xiaohui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275695" y="32385"/>
            <a:ext cx="877570" cy="667385"/>
          </a:xfrm>
          <a:prstGeom prst="rect">
            <a:avLst/>
          </a:prstGeom>
        </p:spPr>
      </p:pic>
      <p:grpSp>
        <p:nvGrpSpPr>
          <p:cNvPr id="13" name="组合 12"/>
          <p:cNvGrpSpPr/>
          <p:nvPr userDrawn="1"/>
        </p:nvGrpSpPr>
        <p:grpSpPr>
          <a:xfrm>
            <a:off x="1905" y="15558"/>
            <a:ext cx="986790" cy="804545"/>
            <a:chOff x="10940" y="2399"/>
            <a:chExt cx="2341" cy="1908"/>
          </a:xfrm>
        </p:grpSpPr>
        <p:sp>
          <p:nvSpPr>
            <p:cNvPr id="8" name="梯形 7"/>
            <p:cNvSpPr/>
            <p:nvPr userDrawn="1"/>
          </p:nvSpPr>
          <p:spPr>
            <a:xfrm rot="5400000">
              <a:off x="11373" y="2399"/>
              <a:ext cx="1908" cy="1908"/>
            </a:xfrm>
            <a:prstGeom prst="trapezoid">
              <a:avLst/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rgbClr val="293B13"/>
                </a:gs>
              </a:gsLst>
              <a:lin ang="16200000" scaled="0"/>
            </a:gra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7" name="梯形 6"/>
            <p:cNvSpPr/>
            <p:nvPr userDrawn="1"/>
          </p:nvSpPr>
          <p:spPr>
            <a:xfrm rot="5400000">
              <a:off x="10940" y="2399"/>
              <a:ext cx="1908" cy="1908"/>
            </a:xfrm>
            <a:prstGeom prst="trapezoid">
              <a:avLst/>
            </a:prstGeom>
            <a:gradFill>
              <a:gsLst>
                <a:gs pos="0">
                  <a:srgbClr val="450C8D"/>
                </a:gs>
                <a:gs pos="100000">
                  <a:srgbClr val="840C18"/>
                </a:gs>
              </a:gsLst>
              <a:lin ang="16200000" scaled="0"/>
            </a:gra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12" name="文本框 11"/>
            <p:cNvSpPr txBox="1"/>
            <p:nvPr userDrawn="1"/>
          </p:nvSpPr>
          <p:spPr>
            <a:xfrm>
              <a:off x="11103" y="2893"/>
              <a:ext cx="1497" cy="9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EIC</a:t>
              </a:r>
              <a:endParaRPr lang="en-US" altLang="zh-CN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012190" y="168910"/>
            <a:ext cx="10023840" cy="507365"/>
          </a:xfrm>
        </p:spPr>
        <p:txBody>
          <a:bodyPr vert="horz" lIns="90000" tIns="46800" rIns="90000" bIns="46800" rtlCol="0" anchor="ctr" anchorCtr="0">
            <a:noAutofit/>
          </a:bodyPr>
          <a:lstStyle>
            <a:lvl1pPr>
              <a:defRPr sz="4000">
                <a:solidFill>
                  <a:srgbClr val="293B13"/>
                </a:solidFill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905" y="20320"/>
            <a:ext cx="986790" cy="804545"/>
            <a:chOff x="10940" y="2399"/>
            <a:chExt cx="2341" cy="1908"/>
          </a:xfrm>
        </p:grpSpPr>
        <p:sp>
          <p:nvSpPr>
            <p:cNvPr id="8" name="梯形 7"/>
            <p:cNvSpPr/>
            <p:nvPr userDrawn="1"/>
          </p:nvSpPr>
          <p:spPr>
            <a:xfrm rot="5400000">
              <a:off x="11373" y="2399"/>
              <a:ext cx="1908" cy="1908"/>
            </a:xfrm>
            <a:prstGeom prst="trapezoid">
              <a:avLst/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rgbClr val="293B13"/>
                </a:gs>
              </a:gsLst>
              <a:lin ang="16200000" scaled="0"/>
            </a:gra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7" name="梯形 6"/>
            <p:cNvSpPr/>
            <p:nvPr userDrawn="1"/>
          </p:nvSpPr>
          <p:spPr>
            <a:xfrm rot="5400000">
              <a:off x="10940" y="2399"/>
              <a:ext cx="1908" cy="1908"/>
            </a:xfrm>
            <a:prstGeom prst="trapezoid">
              <a:avLst/>
            </a:prstGeom>
            <a:gradFill>
              <a:gsLst>
                <a:gs pos="0">
                  <a:srgbClr val="450C8D"/>
                </a:gs>
                <a:gs pos="100000">
                  <a:srgbClr val="840C18"/>
                </a:gs>
              </a:gsLst>
              <a:lin ang="16200000" scaled="0"/>
            </a:gra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12" name="文本框 11"/>
            <p:cNvSpPr txBox="1"/>
            <p:nvPr userDrawn="1"/>
          </p:nvSpPr>
          <p:spPr>
            <a:xfrm>
              <a:off x="11103" y="2893"/>
              <a:ext cx="1497" cy="9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EIC</a:t>
              </a:r>
              <a:endParaRPr lang="en-US" altLang="zh-CN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1" name="图片 10" descr="xiaohui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275695" y="32385"/>
            <a:ext cx="877570" cy="6673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106795" y="0"/>
            <a:ext cx="6042660" cy="6858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851515" y="5397500"/>
            <a:ext cx="959485" cy="959485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6463030" y="495935"/>
            <a:ext cx="959485" cy="959485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1905" y="0"/>
            <a:ext cx="986790" cy="804545"/>
            <a:chOff x="10940" y="2399"/>
            <a:chExt cx="2341" cy="1908"/>
          </a:xfrm>
        </p:grpSpPr>
        <p:sp>
          <p:nvSpPr>
            <p:cNvPr id="3" name="梯形 2"/>
            <p:cNvSpPr/>
            <p:nvPr userDrawn="1"/>
          </p:nvSpPr>
          <p:spPr>
            <a:xfrm rot="5400000">
              <a:off x="11373" y="2399"/>
              <a:ext cx="1908" cy="1908"/>
            </a:xfrm>
            <a:prstGeom prst="trapezoid">
              <a:avLst/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rgbClr val="293B13"/>
                </a:gs>
              </a:gsLst>
              <a:lin ang="16200000" scaled="0"/>
            </a:gra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4" name="梯形 3"/>
            <p:cNvSpPr/>
            <p:nvPr userDrawn="1"/>
          </p:nvSpPr>
          <p:spPr>
            <a:xfrm rot="5400000">
              <a:off x="10940" y="2399"/>
              <a:ext cx="1908" cy="1908"/>
            </a:xfrm>
            <a:prstGeom prst="trapezoid">
              <a:avLst/>
            </a:prstGeom>
            <a:gradFill>
              <a:gsLst>
                <a:gs pos="0">
                  <a:srgbClr val="450C8D"/>
                </a:gs>
                <a:gs pos="100000">
                  <a:srgbClr val="840C18"/>
                </a:gs>
              </a:gsLst>
              <a:lin ang="16200000" scaled="0"/>
            </a:gra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/>
            </a:p>
          </p:txBody>
        </p:sp>
        <p:sp>
          <p:nvSpPr>
            <p:cNvPr id="5" name="文本框 4"/>
            <p:cNvSpPr txBox="1"/>
            <p:nvPr userDrawn="1"/>
          </p:nvSpPr>
          <p:spPr>
            <a:xfrm>
              <a:off x="11103" y="2893"/>
              <a:ext cx="1497" cy="9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EIC</a:t>
              </a:r>
              <a:endParaRPr lang="en-US" altLang="zh-CN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9" name="图片 8"/>
          <p:cNvPicPr/>
          <p:nvPr userDrawn="1"/>
        </p:nvPicPr>
        <p:blipFill>
          <a:blip r:embed="rId2"/>
          <a:srcRect l="29920" r="11684"/>
          <a:stretch>
            <a:fillRect/>
          </a:stretch>
        </p:blipFill>
        <p:spPr>
          <a:xfrm>
            <a:off x="6637020" y="706755"/>
            <a:ext cx="4982210" cy="54483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8399" y="608400"/>
            <a:ext cx="8919843" cy="705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6.xml"/><Relationship Id="rId13" Type="http://schemas.openxmlformats.org/officeDocument/2006/relationships/image" Target="../media/image1.png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8399" y="608400"/>
            <a:ext cx="10539499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 descr="xiaohui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275695" y="32385"/>
            <a:ext cx="877570" cy="667385"/>
          </a:xfrm>
          <a:prstGeom prst="rect">
            <a:avLst/>
          </a:prstGeom>
        </p:spPr>
      </p:pic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1568741"/>
            <a:ext cx="12192000" cy="270125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86130" y="2188845"/>
            <a:ext cx="10620375" cy="579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</a:rPr>
              <a:t>例会</a:t>
            </a:r>
            <a:r>
              <a:rPr lang="en-US" altLang="zh-CN" sz="4800" b="1" dirty="0">
                <a:solidFill>
                  <a:schemeClr val="bg1"/>
                </a:solidFill>
              </a:rPr>
              <a:t>4.24</a:t>
            </a:r>
            <a:endParaRPr lang="en-US" altLang="zh-CN" sz="4800" b="1" dirty="0">
              <a:solidFill>
                <a:schemeClr val="bg1"/>
              </a:solidFill>
            </a:endParaRPr>
          </a:p>
        </p:txBody>
      </p:sp>
      <p:sp>
        <p:nvSpPr>
          <p:cNvPr id="7" name="副标题 2"/>
          <p:cNvSpPr txBox="1"/>
          <p:nvPr/>
        </p:nvSpPr>
        <p:spPr bwMode="auto">
          <a:xfrm>
            <a:off x="2996904" y="4467280"/>
            <a:ext cx="6198140" cy="99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2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zh-CN" dirty="0"/>
              <a:t>武晨曦</a:t>
            </a:r>
            <a:endParaRPr lang="zh-CN" altLang="zh-CN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2575651" y="5538355"/>
            <a:ext cx="7040563" cy="1266825"/>
          </a:xfrm>
          <a:prstGeom prst="rect">
            <a:avLst/>
          </a:prstGeom>
        </p:spPr>
        <p:txBody>
          <a:bodyPr vert="horz" lIns="90000" tIns="46800" rIns="90000" bIns="46800" rtlCol="0">
            <a:normAutofit fontScale="7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3200" dirty="0">
                <a:solidFill>
                  <a:schemeClr val="tx1"/>
                </a:solidFill>
                <a:latin typeface="+mn-ea"/>
                <a:ea typeface="+mn-ea"/>
                <a:sym typeface="+mn-ea"/>
              </a:rPr>
              <a:t>华中科技大学</a:t>
            </a:r>
            <a:endParaRPr lang="zh-CN" altLang="en-US" sz="32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0" indent="0" algn="ctr">
              <a:buNone/>
            </a:pPr>
            <a:r>
              <a:rPr lang="zh-CN" altLang="en-US" sz="3200" dirty="0">
                <a:solidFill>
                  <a:schemeClr val="tx1"/>
                </a:solidFill>
                <a:latin typeface="+mn-ea"/>
                <a:ea typeface="+mn-ea"/>
              </a:rPr>
              <a:t>电子信息与通信学院</a:t>
            </a:r>
            <a:endParaRPr lang="en-US" altLang="zh-CN" sz="3200" dirty="0">
              <a:solidFill>
                <a:schemeClr val="tx1"/>
              </a:solidFill>
              <a:latin typeface="+mn-ea"/>
              <a:ea typeface="+mn-ea"/>
            </a:endParaRPr>
          </a:p>
          <a:p>
            <a:pPr marL="0" indent="0" algn="ctr">
              <a:buNone/>
            </a:pPr>
            <a:endParaRPr lang="en-US" altLang="zh-CN" sz="3200"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方案选择</a:t>
            </a:r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878840" y="867410"/>
            <a:ext cx="5866130" cy="5036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总体目标：用微调或者</a:t>
            </a:r>
            <a:r>
              <a:rPr lang="en-US" altLang="zh-CN">
                <a:sym typeface="+mn-ea"/>
              </a:rPr>
              <a:t>RL</a:t>
            </a:r>
            <a:r>
              <a:rPr lang="zh-CN" altLang="en-US">
                <a:sym typeface="+mn-ea"/>
              </a:rPr>
              <a:t>训一个驾驶的</a:t>
            </a:r>
            <a:r>
              <a:rPr lang="en-US" altLang="zh-CN">
                <a:sym typeface="+mn-ea"/>
              </a:rPr>
              <a:t>CoT</a:t>
            </a:r>
            <a:r>
              <a:rPr lang="zh-CN" altLang="en-US">
                <a:sym typeface="+mn-ea"/>
              </a:rPr>
              <a:t>标注模型，使用它的评测集，对标</a:t>
            </a:r>
            <a:r>
              <a:rPr lang="en-US" altLang="zh-CN">
                <a:sym typeface="+mn-ea"/>
              </a:rPr>
              <a:t>NVIDIA  AR1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已知信息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：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1.NVIDIA AR1</a:t>
            </a:r>
            <a:r>
              <a:rPr lang="zh-CN" altLang="en-US">
                <a:sym typeface="+mn-ea"/>
              </a:rPr>
              <a:t>的标注产线没有开源，标注效果的评测方案也没有开源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2.AR1</a:t>
            </a:r>
            <a:r>
              <a:rPr lang="zh-CN" altLang="en-US">
                <a:sym typeface="+mn-ea"/>
              </a:rPr>
              <a:t>的数据集有133</a:t>
            </a:r>
            <a:r>
              <a:rPr lang="en-US" altLang="zh-CN">
                <a:sym typeface="+mn-ea"/>
              </a:rPr>
              <a:t>TB，</a:t>
            </a:r>
            <a:r>
              <a:rPr lang="zh-CN" altLang="en-US">
                <a:sym typeface="+mn-ea"/>
              </a:rPr>
              <a:t>本地下不下来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NVIDIA AR1</a:t>
            </a:r>
            <a:r>
              <a:rPr lang="zh-CN" altLang="en-US">
                <a:sym typeface="+mn-ea"/>
              </a:rPr>
              <a:t>可以改进的点：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标注产线中，关键帧的选择逻辑较为简单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模型在推理过程中，会出现</a:t>
            </a:r>
            <a:r>
              <a:rPr lang="en-US" altLang="zh-CN">
                <a:sym typeface="+mn-ea"/>
              </a:rPr>
              <a:t> Drive Decision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Critical Components</a:t>
            </a:r>
            <a:r>
              <a:rPr lang="zh-CN" altLang="en-US">
                <a:sym typeface="+mn-ea"/>
              </a:rPr>
              <a:t>对不上的现象（归因错误）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5455" y="1276985"/>
            <a:ext cx="4944745" cy="25927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192645" y="4189730"/>
            <a:ext cx="4190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AR1</a:t>
            </a:r>
            <a:r>
              <a:rPr lang="zh-CN" altLang="en-US"/>
              <a:t>中的</a:t>
            </a:r>
            <a:r>
              <a:rPr lang="en-US" altLang="zh-CN">
                <a:solidFill>
                  <a:schemeClr val="accent3"/>
                </a:solidFill>
              </a:rPr>
              <a:t>Drive Decision</a:t>
            </a:r>
            <a:r>
              <a:rPr lang="zh-CN" altLang="en-US"/>
              <a:t>和</a:t>
            </a:r>
            <a:r>
              <a:rPr lang="en-US" altLang="zh-CN">
                <a:solidFill>
                  <a:srgbClr val="0070C0"/>
                </a:solidFill>
              </a:rPr>
              <a:t>Critical Components</a:t>
            </a:r>
            <a:endParaRPr lang="en-US" altLang="zh-CN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方案选择</a:t>
            </a:r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9" name="文本框 8"/>
          <p:cNvSpPr txBox="1"/>
          <p:nvPr/>
        </p:nvSpPr>
        <p:spPr>
          <a:xfrm>
            <a:off x="878840" y="867410"/>
            <a:ext cx="5866130" cy="5036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总体目标：用微调或者</a:t>
            </a:r>
            <a:r>
              <a:rPr lang="en-US" altLang="zh-CN">
                <a:sym typeface="+mn-ea"/>
              </a:rPr>
              <a:t>RL</a:t>
            </a:r>
            <a:r>
              <a:rPr lang="zh-CN" altLang="en-US">
                <a:sym typeface="+mn-ea"/>
              </a:rPr>
              <a:t>训一个驾驶的</a:t>
            </a:r>
            <a:r>
              <a:rPr lang="en-US" altLang="zh-CN">
                <a:sym typeface="+mn-ea"/>
              </a:rPr>
              <a:t>CoT</a:t>
            </a:r>
            <a:r>
              <a:rPr lang="zh-CN" altLang="en-US">
                <a:sym typeface="+mn-ea"/>
              </a:rPr>
              <a:t>标注模型，使用它的评测集，对标</a:t>
            </a:r>
            <a:r>
              <a:rPr lang="en-US" altLang="zh-CN">
                <a:sym typeface="+mn-ea"/>
              </a:rPr>
              <a:t>NVIDIA  AR1</a:t>
            </a:r>
            <a:endParaRPr lang="en-US" altLang="zh-CN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方案：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使用</a:t>
            </a:r>
            <a:r>
              <a:rPr lang="en-US" altLang="zh-CN">
                <a:sym typeface="+mn-ea"/>
              </a:rPr>
              <a:t>NVIDIA</a:t>
            </a:r>
            <a:r>
              <a:rPr lang="zh-CN" altLang="en-US">
                <a:sym typeface="+mn-ea"/>
              </a:rPr>
              <a:t>的子集，仿照</a:t>
            </a:r>
            <a:r>
              <a:rPr lang="en-US" altLang="zh-CN">
                <a:sym typeface="+mn-ea"/>
              </a:rPr>
              <a:t>AR1</a:t>
            </a:r>
            <a:r>
              <a:rPr lang="zh-CN" altLang="en-US">
                <a:sym typeface="+mn-ea"/>
              </a:rPr>
              <a:t>中</a:t>
            </a:r>
            <a:r>
              <a:rPr lang="en-US" altLang="zh-CN">
                <a:sym typeface="+mn-ea"/>
              </a:rPr>
              <a:t>CoC</a:t>
            </a:r>
            <a:r>
              <a:rPr lang="zh-CN" altLang="en-US">
                <a:sym typeface="+mn-ea"/>
              </a:rPr>
              <a:t>产线的设计原理，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训练一个</a:t>
            </a:r>
            <a:r>
              <a:rPr lang="en-US" altLang="zh-CN">
                <a:sym typeface="+mn-ea"/>
              </a:rPr>
              <a:t>VLM</a:t>
            </a:r>
            <a:r>
              <a:rPr lang="zh-CN" altLang="en-US">
                <a:sym typeface="+mn-ea"/>
              </a:rPr>
              <a:t>，要训练的点包括：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1. </a:t>
            </a:r>
            <a:r>
              <a:rPr lang="zh-CN" altLang="en-US">
                <a:sym typeface="+mn-ea"/>
              </a:rPr>
              <a:t>在驾驶场景中提取</a:t>
            </a:r>
            <a:r>
              <a:rPr lang="en-US" altLang="zh-CN">
                <a:sym typeface="+mn-ea"/>
              </a:rPr>
              <a:t>Drive Decision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2. Keyframe</a:t>
            </a:r>
            <a:r>
              <a:rPr lang="zh-CN" altLang="en-US">
                <a:sym typeface="+mn-ea"/>
              </a:rPr>
              <a:t>选取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提取</a:t>
            </a:r>
            <a:r>
              <a:rPr lang="en-US" altLang="zh-CN">
                <a:sym typeface="+mn-ea"/>
              </a:rPr>
              <a:t>Keyframe</a:t>
            </a:r>
            <a:r>
              <a:rPr lang="zh-CN" altLang="en-US">
                <a:sym typeface="+mn-ea"/>
              </a:rPr>
              <a:t>之前的</a:t>
            </a:r>
            <a:r>
              <a:rPr lang="en-US" altLang="zh-CN">
                <a:sym typeface="+mn-ea"/>
              </a:rPr>
              <a:t>Critical Components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4.</a:t>
            </a:r>
            <a:r>
              <a:rPr lang="zh-CN" altLang="en-US">
                <a:sym typeface="+mn-ea"/>
              </a:rPr>
              <a:t>将</a:t>
            </a:r>
            <a:r>
              <a:rPr lang="en-US" altLang="zh-CN">
                <a:sym typeface="+mn-ea"/>
              </a:rPr>
              <a:t>Drive Decision</a:t>
            </a:r>
            <a:r>
              <a:rPr lang="zh-CN" altLang="en-US">
                <a:sym typeface="+mn-ea"/>
              </a:rPr>
              <a:t>与对其产生直接影响的</a:t>
            </a:r>
            <a:r>
              <a:rPr lang="en-US" altLang="zh-CN">
                <a:sym typeface="+mn-ea"/>
              </a:rPr>
              <a:t>Critical Components</a:t>
            </a:r>
            <a:r>
              <a:rPr lang="zh-CN" altLang="en-US">
                <a:sym typeface="+mn-ea"/>
              </a:rPr>
              <a:t>组成一条</a:t>
            </a:r>
            <a:r>
              <a:rPr lang="en-US" altLang="zh-CN">
                <a:sym typeface="+mn-ea"/>
              </a:rPr>
              <a:t>CoC</a:t>
            </a:r>
            <a:r>
              <a:rPr lang="zh-CN" altLang="en-US">
                <a:sym typeface="+mn-ea"/>
              </a:rPr>
              <a:t>轨迹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训练数据来源：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1.Alpamayo-R1</a:t>
            </a:r>
            <a:r>
              <a:rPr lang="zh-CN" altLang="en-US">
                <a:sym typeface="+mn-ea"/>
              </a:rPr>
              <a:t>中开源的</a:t>
            </a:r>
            <a:r>
              <a:rPr lang="en-US" altLang="zh-CN">
                <a:sym typeface="+mn-ea"/>
              </a:rPr>
              <a:t>Reason</a:t>
            </a:r>
            <a:r>
              <a:rPr lang="zh-CN" altLang="en-US">
                <a:sym typeface="+mn-ea"/>
              </a:rPr>
              <a:t>数据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2.Alpamayo-1.5</a:t>
            </a:r>
            <a:r>
              <a:rPr lang="zh-CN" altLang="en-US">
                <a:sym typeface="+mn-ea"/>
              </a:rPr>
              <a:t>具有</a:t>
            </a:r>
            <a:r>
              <a:rPr lang="en-US" altLang="zh-CN">
                <a:sym typeface="+mn-ea"/>
              </a:rPr>
              <a:t>QA</a:t>
            </a:r>
            <a:r>
              <a:rPr lang="zh-CN" altLang="en-US">
                <a:sym typeface="+mn-ea"/>
              </a:rPr>
              <a:t>能力，可以使用它补充</a:t>
            </a:r>
            <a:r>
              <a:rPr lang="en-US" altLang="zh-CN">
                <a:sym typeface="+mn-ea"/>
              </a:rPr>
              <a:t>VLM</a:t>
            </a:r>
            <a:r>
              <a:rPr lang="zh-CN" altLang="en-US">
                <a:sym typeface="+mn-ea"/>
              </a:rPr>
              <a:t>的推理能力</a:t>
            </a:r>
            <a:endParaRPr lang="en-US" altLang="zh-CN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评测：将</a:t>
            </a:r>
            <a:r>
              <a:rPr lang="en-US" altLang="zh-CN">
                <a:sym typeface="+mn-ea"/>
              </a:rPr>
              <a:t>VLM</a:t>
            </a:r>
            <a:r>
              <a:rPr lang="zh-CN" altLang="en-US">
                <a:sym typeface="+mn-ea"/>
              </a:rPr>
              <a:t>标注的数据集与</a:t>
            </a:r>
            <a:r>
              <a:rPr lang="en-US" altLang="zh-CN">
                <a:sym typeface="+mn-ea"/>
              </a:rPr>
              <a:t>NVIDIA</a:t>
            </a:r>
            <a:r>
              <a:rPr lang="zh-CN" altLang="en-US">
                <a:sym typeface="+mn-ea"/>
              </a:rPr>
              <a:t>的开源的数据集进行一致性比较来体现我的标注模型性能，或者使用大模型的</a:t>
            </a:r>
            <a:r>
              <a:rPr lang="en-US" altLang="zh-CN">
                <a:sym typeface="+mn-ea"/>
              </a:rPr>
              <a:t>API</a:t>
            </a:r>
            <a:r>
              <a:rPr lang="zh-CN" altLang="en-US">
                <a:sym typeface="+mn-ea"/>
              </a:rPr>
              <a:t>来判断标注质量</a:t>
            </a:r>
            <a:r>
              <a:rPr lang="en-US" altLang="zh-CN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5455" y="1276985"/>
            <a:ext cx="4944745" cy="25927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192645" y="4189730"/>
            <a:ext cx="4190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AR1</a:t>
            </a:r>
            <a:r>
              <a:rPr lang="zh-CN" altLang="en-US"/>
              <a:t>中的</a:t>
            </a:r>
            <a:r>
              <a:rPr lang="en-US" altLang="zh-CN">
                <a:solidFill>
                  <a:schemeClr val="accent3"/>
                </a:solidFill>
              </a:rPr>
              <a:t>Drive Decision</a:t>
            </a:r>
            <a:r>
              <a:rPr lang="zh-CN" altLang="en-US"/>
              <a:t>和</a:t>
            </a:r>
            <a:r>
              <a:rPr lang="en-US" altLang="zh-CN">
                <a:solidFill>
                  <a:srgbClr val="0070C0"/>
                </a:solidFill>
              </a:rPr>
              <a:t>Critical Components</a:t>
            </a:r>
            <a:endParaRPr lang="en-US" altLang="zh-CN">
              <a:solidFill>
                <a:srgbClr val="0070C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673340" y="5183505"/>
            <a:ext cx="357759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</a:t>
            </a:r>
            <a:r>
              <a:rPr lang="zh-CN" altLang="en-US"/>
              <a:t>缺多主因问题，实际上可能有多个车辆影响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蒸馏产线中缺环视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用</a:t>
            </a:r>
            <a:r>
              <a:rPr lang="en-US" altLang="zh-CN"/>
              <a:t>KIMI</a:t>
            </a:r>
            <a:r>
              <a:rPr lang="zh-CN" altLang="en-US"/>
              <a:t>去</a:t>
            </a:r>
            <a:r>
              <a:rPr lang="en-US" altLang="zh-CN"/>
              <a:t>Zeroshot</a:t>
            </a:r>
            <a:r>
              <a:rPr lang="zh-CN" altLang="en-US"/>
              <a:t>试，写</a:t>
            </a:r>
            <a:r>
              <a:rPr lang="en-US" altLang="zh-CN"/>
              <a:t>Promt</a:t>
            </a:r>
            <a:r>
              <a:rPr lang="zh-CN" altLang="en-US"/>
              <a:t>做数据标注</a:t>
            </a:r>
            <a:br>
              <a:rPr lang="zh-CN" altLang="en-US"/>
            </a:br>
            <a:br>
              <a:rPr lang="zh-CN" altLang="en-US"/>
            </a:br>
            <a:r>
              <a:rPr lang="en-US" altLang="zh-CN"/>
              <a:t>Gemini</a:t>
            </a:r>
            <a:r>
              <a:rPr lang="zh-CN" altLang="en-US"/>
              <a:t>标效果还可以</a:t>
            </a:r>
            <a:br>
              <a:rPr lang="zh-CN" altLang="en-US"/>
            </a:br>
            <a:r>
              <a:rPr lang="zh-CN" altLang="en-US"/>
              <a:t>可以用内部的</a:t>
            </a:r>
            <a:r>
              <a:rPr lang="en-US" altLang="zh-CN"/>
              <a:t>Qwen 397B API</a:t>
            </a:r>
            <a:r>
              <a:rPr lang="zh-CN" altLang="en-US"/>
              <a:t>接口，可以做</a:t>
            </a:r>
            <a:r>
              <a:rPr lang="en-US" altLang="zh-CN"/>
              <a:t>Double check</a:t>
            </a:r>
            <a:r>
              <a:rPr lang="zh-CN" altLang="en-US"/>
              <a:t>滤除错误数据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后续规划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54355" y="1126490"/>
            <a:ext cx="5247005" cy="4455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还未确定的点：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模态</a:t>
            </a:r>
            <a:endParaRPr lang="zh-CN" altLang="en-US"/>
          </a:p>
          <a:p>
            <a:r>
              <a:rPr lang="en-US" altLang="zh-CN"/>
              <a:t>AR1</a:t>
            </a:r>
            <a:r>
              <a:rPr lang="zh-CN" altLang="en-US"/>
              <a:t>的开源的数据包含环视图</a:t>
            </a:r>
            <a:r>
              <a:rPr lang="en-US" altLang="zh-CN"/>
              <a:t>img</a:t>
            </a:r>
            <a:r>
              <a:rPr lang="zh-CN" altLang="en-US"/>
              <a:t>，</a:t>
            </a:r>
            <a:r>
              <a:rPr lang="en-US" altLang="zh-CN"/>
              <a:t>Top Lidar</a:t>
            </a:r>
            <a:r>
              <a:rPr lang="zh-CN" altLang="en-US"/>
              <a:t>，环视</a:t>
            </a:r>
            <a:r>
              <a:rPr lang="en-US" altLang="zh-CN"/>
              <a:t>Radar</a:t>
            </a:r>
            <a:r>
              <a:rPr lang="zh-CN" altLang="en-US"/>
              <a:t>以及</a:t>
            </a:r>
            <a:r>
              <a:rPr lang="en-US" altLang="zh-CN"/>
              <a:t>ego</a:t>
            </a:r>
            <a:r>
              <a:rPr lang="zh-CN" altLang="en-US"/>
              <a:t>自车状态，但</a:t>
            </a:r>
            <a:r>
              <a:rPr lang="en-US" altLang="zh-CN"/>
              <a:t>AR1</a:t>
            </a:r>
            <a:r>
              <a:rPr lang="zh-CN" altLang="en-US"/>
              <a:t>模型输入只有</a:t>
            </a:r>
            <a:r>
              <a:rPr lang="en-US" altLang="zh-CN"/>
              <a:t>Img</a:t>
            </a:r>
            <a:r>
              <a:rPr lang="zh-CN" altLang="en-US"/>
              <a:t>（包含前视广角、前视长焦、左侧和右侧）和</a:t>
            </a:r>
            <a:r>
              <a:rPr lang="en-US" altLang="zh-CN"/>
              <a:t>Text</a:t>
            </a:r>
            <a:r>
              <a:rPr lang="zh-CN" altLang="en-US"/>
              <a:t>（用户指令和历史轨迹）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 base model</a:t>
            </a:r>
            <a:r>
              <a:rPr lang="zh-CN" altLang="en-US"/>
              <a:t>选择</a:t>
            </a:r>
            <a:endParaRPr lang="en-US" altLang="zh-CN"/>
          </a:p>
          <a:p>
            <a:endParaRPr lang="zh-CN" altLang="en-US"/>
          </a:p>
          <a:p>
            <a:r>
              <a:rPr lang="en-US" altLang="zh-CN"/>
              <a:t>InternVL3_5</a:t>
            </a:r>
            <a:r>
              <a:rPr lang="zh-CN" altLang="en-US"/>
              <a:t>，</a:t>
            </a:r>
            <a:r>
              <a:rPr lang="en-US" altLang="zh-CN"/>
              <a:t>Qwen3VL or another one?</a:t>
            </a:r>
            <a:endParaRPr lang="en-US" altLang="zh-CN"/>
          </a:p>
          <a:p>
            <a:r>
              <a:rPr lang="zh-CN" altLang="en-US"/>
              <a:t>尺寸？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InternVL3_5: 8B</a:t>
            </a:r>
            <a:r>
              <a:rPr lang="zh-CN" altLang="en-US"/>
              <a:t>，</a:t>
            </a:r>
            <a:r>
              <a:rPr lang="en-US" altLang="zh-CN"/>
              <a:t>14B</a:t>
            </a:r>
            <a:endParaRPr lang="en-US" altLang="zh-CN"/>
          </a:p>
          <a:p>
            <a:r>
              <a:rPr lang="en-US" altLang="zh-CN"/>
              <a:t>Qwen3VL: 4B</a:t>
            </a:r>
            <a:r>
              <a:rPr lang="zh-CN" altLang="en-US"/>
              <a:t>，</a:t>
            </a:r>
            <a:r>
              <a:rPr lang="en-US" altLang="zh-CN"/>
              <a:t>8B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模态：先用前视图</a:t>
            </a:r>
            <a:r>
              <a:rPr lang="en-US" altLang="zh-CN"/>
              <a:t>/</a:t>
            </a:r>
            <a:r>
              <a:rPr lang="zh-CN" altLang="en-US"/>
              <a:t>前视图，</a:t>
            </a:r>
            <a:r>
              <a:rPr lang="en-US" altLang="zh-CN"/>
              <a:t>R1</a:t>
            </a:r>
            <a:r>
              <a:rPr lang="zh-CN" altLang="en-US"/>
              <a:t>和</a:t>
            </a:r>
            <a:r>
              <a:rPr lang="en-US" altLang="zh-CN"/>
              <a:t>R1.5</a:t>
            </a:r>
            <a:r>
              <a:rPr lang="zh-CN" altLang="en-US"/>
              <a:t>不一样</a:t>
            </a:r>
            <a:endParaRPr lang="zh-CN" altLang="en-US"/>
          </a:p>
          <a:p>
            <a:r>
              <a:rPr lang="zh-CN" altLang="en-US"/>
              <a:t>模型：</a:t>
            </a:r>
            <a:r>
              <a:rPr lang="en-US" altLang="zh-CN"/>
              <a:t>Qwen3.5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030" y="901065"/>
            <a:ext cx="5139055" cy="30886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238365" y="4041775"/>
            <a:ext cx="3192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AR1</a:t>
            </a:r>
            <a:r>
              <a:rPr lang="zh-CN" altLang="en-US"/>
              <a:t>的输入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88202" y="2160927"/>
            <a:ext cx="527464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0" algn="ctr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sz="3200" dirty="0">
                <a:sym typeface="+mn-ea"/>
              </a:rPr>
              <a:t>谢谢大家！</a:t>
            </a:r>
            <a:endParaRPr lang="en-US" altLang="zh-CN" sz="3200" b="1" dirty="0">
              <a:solidFill>
                <a:srgbClr val="002060"/>
              </a:solidFill>
              <a:latin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/>
    </mc:Choice>
    <mc:Fallback>
      <p:transition spd="med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lang="zh-CN" altLang="en-US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1030</Words>
  <Application>WPS 演示</Application>
  <PresentationFormat>宽屏</PresentationFormat>
  <Paragraphs>77</Paragraphs>
  <Slides>5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Office 主题​​</vt:lpstr>
      <vt:lpstr>PowerPoint 演示文稿</vt:lpstr>
      <vt:lpstr>方案选择 </vt:lpstr>
      <vt:lpstr>方案选择 </vt:lpstr>
      <vt:lpstr>后续规划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WPS_1661838855</cp:lastModifiedBy>
  <cp:revision>418</cp:revision>
  <dcterms:created xsi:type="dcterms:W3CDTF">2019-06-19T02:08:00Z</dcterms:created>
  <dcterms:modified xsi:type="dcterms:W3CDTF">2026-04-24T03:03:53Z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257AAEFDC9234481B28950DB7DE2C590_13</vt:lpwstr>
  </property>
</Properties>
</file>